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7772400" cy="10058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/>
          <p:nvPr>
            <p:ph idx="1" type="body"/>
          </p:nvPr>
        </p:nvSpPr>
        <p:spPr>
          <a:xfrm>
            <a:off x="777225" y="4777725"/>
            <a:ext cx="6217900" cy="45262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1295650" y="754375"/>
            <a:ext cx="5181850" cy="37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31800" lvl="0" marL="457200" marR="0" rtl="0" algn="l"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7180" lvl="2" marL="1371600" marR="0" rtl="0" algn="l"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Noto Sans Symbols"/>
              <a:buChar char="−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8575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8575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8575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FFFFFF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bg>
      <p:bgPr>
        <a:solidFill>
          <a:srgbClr val="FFFFFF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 rot="5400000">
            <a:off x="2309040" y="-251640"/>
            <a:ext cx="4525560" cy="8229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 rot="5400000">
            <a:off x="4732380" y="2171700"/>
            <a:ext cx="5851080" cy="2057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 rot="5400000">
            <a:off x="541440" y="190440"/>
            <a:ext cx="5851080" cy="601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2" name="Google Shape;32;p6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3" name="Google Shape;33;p6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bg>
      <p:bgPr>
        <a:solidFill>
          <a:srgbClr val="FFFFFF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3" name="Google Shape;43;p8"/>
          <p:cNvSpPr txBox="1"/>
          <p:nvPr>
            <p:ph idx="1"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4" name="Google Shape;44;p8"/>
          <p:cNvSpPr txBox="1"/>
          <p:nvPr>
            <p:ph idx="2"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5" name="Google Shape;45;p8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6" name="Google Shape;46;p8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bg>
      <p:bgPr>
        <a:solidFill>
          <a:srgbClr val="FFFFFF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0" name="Google Shape;50;p9"/>
          <p:cNvSpPr txBox="1"/>
          <p:nvPr>
            <p:ph idx="1"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2" name="Google Shape;52;p9"/>
          <p:cNvSpPr txBox="1"/>
          <p:nvPr>
            <p:ph idx="3"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3" name="Google Shape;53;p9"/>
          <p:cNvSpPr txBox="1"/>
          <p:nvPr>
            <p:ph idx="4"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10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10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0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 txBox="1"/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5" name="Google Shape;65;p11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6" name="Google Shape;66;p11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7" name="Google Shape;67;p11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8" name="Google Shape;68;p11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>
            <a:lvl1pPr indent="-431800" lvl="0" marL="457200" marR="0" rtl="0" algn="l">
              <a:spcBef>
                <a:spcPts val="281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56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0040" lvl="2" marL="1371600" marR="0" rtl="0" algn="l">
              <a:spcBef>
                <a:spcPts val="479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Char char="−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004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0040" lvl="5" marL="27432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0040" lvl="6" marL="3200400" marR="0" rtl="0" algn="l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2" name="Google Shape;72;p12"/>
          <p:cNvSpPr txBox="1"/>
          <p:nvPr>
            <p:ph idx="2"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1200"/>
              <a:buFont typeface="Calibri"/>
              <a:buNone/>
              <a:defRPr b="0" sz="120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1371600" y="1097280"/>
            <a:ext cx="9448200" cy="466308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 cap="flat" cmpd="sng" w="19050">
            <a:solidFill>
              <a:srgbClr val="3895F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548625" spcFirstLastPara="1" rIns="548625" wrap="square" tIns="548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3895F8"/>
                </a:solidFill>
                <a:latin typeface="Arial"/>
                <a:ea typeface="Arial"/>
                <a:cs typeface="Arial"/>
                <a:sym typeface="Arial"/>
              </a:rPr>
              <a:t>TALLER DE BASE DE DATOS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500" u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Evaluación 1: Caso de Negocio Tienda 'Top 9'</a:t>
            </a:r>
            <a:br>
              <a:rPr lang="en-US" sz="2500"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500" u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Implementación de Soluciones en PL/SQL </a:t>
            </a:r>
            <a:endParaRPr b="0" sz="2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401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Integrantes: Cristóbal Loncón • Joaquín Oyarzún • Felipe Barra • Renata Orellana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0" lang="en-US" sz="1300" u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Docente: Carlos Orellana  |  Fecha: 01-09-2026</a:t>
            </a:r>
            <a:endParaRPr b="0" sz="13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/>
          <p:nvPr/>
        </p:nvSpPr>
        <p:spPr>
          <a:xfrm>
            <a:off x="731520" y="365760"/>
            <a:ext cx="10698120" cy="100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3895F8"/>
                </a:solidFill>
                <a:latin typeface="Arial"/>
                <a:ea typeface="Arial"/>
                <a:cs typeface="Arial"/>
                <a:sym typeface="Arial"/>
              </a:rPr>
              <a:t>TALLER DE BASE DE DATOS - EVALUACIÓN 1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Contexto de la Tienda 'Top 9'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4"/>
          <p:cNvSpPr/>
          <p:nvPr/>
        </p:nvSpPr>
        <p:spPr>
          <a:xfrm>
            <a:off x="731520" y="1463040"/>
            <a:ext cx="5120280" cy="475452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65750" spcFirstLastPara="1" rIns="365750" wrap="square" tIns="365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3895F8"/>
                </a:solidFill>
                <a:latin typeface="Calibri"/>
                <a:ea typeface="Calibri"/>
                <a:cs typeface="Calibri"/>
                <a:sym typeface="Calibri"/>
              </a:rPr>
              <a:t>Descripción del Local</a:t>
            </a:r>
            <a:endParaRPr b="0" sz="1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Ubicación: Centro de Puerto Montt.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Giro: Venta de juegos de mesa y centro para torneos y eventos de pequeño formato.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Objetivo del Proyecto: Automatizar los procesos administrativos y de atención mediante programación en PL/SQL dentro de la base de datos Oracle.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Beneficio: Encapsular la lógica de negocio para procesar los datos directamente en el servidor y reducir errores operativos.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6217920" y="1463040"/>
            <a:ext cx="5211720" cy="475452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65750" spcFirstLastPara="1" rIns="365750" wrap="square" tIns="365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Actores del Sistema</a:t>
            </a:r>
            <a:endParaRPr b="0" sz="1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250" u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Clientes: </a:t>
            </a:r>
            <a:r>
              <a:rPr b="0" lang="en-US" sz="125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Datos personales, compras, sugerencias e inscripción a eventos.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250" u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Trabajadores: </a:t>
            </a:r>
            <a:r>
              <a:rPr b="0" lang="en-US" sz="125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Cajeros, bodegueros y gerentes que operan el local.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250" u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Local Top 9: </a:t>
            </a:r>
            <a:r>
              <a:rPr b="0" lang="en-US" sz="125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Control de stock, arriendo de mesas y organización de eventos.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1250" u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Distribuidores: </a:t>
            </a:r>
            <a:r>
              <a:rPr b="0" lang="en-US" sz="125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Proveedores de productos, marcas y editoriales.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731520" y="365760"/>
            <a:ext cx="10698120" cy="100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3895F8"/>
                </a:solidFill>
                <a:latin typeface="Arial"/>
                <a:ea typeface="Arial"/>
                <a:cs typeface="Arial"/>
                <a:sym typeface="Arial"/>
              </a:rPr>
              <a:t>TALLER DE BASE DE DATOS - EVALUACIÓN 1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Problemáticas Operativas a Resolver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5"/>
          <p:cNvSpPr/>
          <p:nvPr/>
        </p:nvSpPr>
        <p:spPr>
          <a:xfrm>
            <a:off x="731520" y="1463040"/>
            <a:ext cx="5211720" cy="228564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 cap="flat" cmpd="sng" w="12700">
            <a:solidFill>
              <a:srgbClr val="3895F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274300" spcFirstLastPara="1" rIns="274300" wrap="square" tIns="27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3895F8"/>
                </a:solidFill>
                <a:latin typeface="Calibri"/>
                <a:ea typeface="Calibri"/>
                <a:cs typeface="Calibri"/>
                <a:sym typeface="Calibri"/>
              </a:rPr>
              <a:t>1. Búsqueda de Productos en Caja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El cajero necesita ver los datos completos de un juego (nombre, precio, stock, categoría, marca) en una sola consulta, sin buscar tabla por tabla.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6217920" y="1463040"/>
            <a:ext cx="5211720" cy="228564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 cap="flat" cmpd="sng" w="12700">
            <a:solidFill>
              <a:srgbClr val="3895F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274300" spcFirstLastPara="1" rIns="274300" wrap="square" tIns="27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3895F8"/>
                </a:solidFill>
                <a:latin typeface="Calibri"/>
                <a:ea typeface="Calibri"/>
                <a:cs typeface="Calibri"/>
                <a:sym typeface="Calibri"/>
              </a:rPr>
              <a:t>2. Clasificación para Marketing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El área de difusión necesita agrupar productos según categorías de edad fijas para enviar promociones dirigidas.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/>
          <p:nvPr/>
        </p:nvSpPr>
        <p:spPr>
          <a:xfrm>
            <a:off x="731520" y="4023360"/>
            <a:ext cx="5211720" cy="228564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 cap="flat" cmpd="sng" w="12700">
            <a:solidFill>
              <a:srgbClr val="3895F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274300" spcFirstLastPara="1" rIns="274300" wrap="square" tIns="27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3895F8"/>
                </a:solidFill>
                <a:latin typeface="Calibri"/>
                <a:ea typeface="Calibri"/>
                <a:cs typeface="Calibri"/>
                <a:sym typeface="Calibri"/>
              </a:rPr>
              <a:t>3. Control de Asistencia a Torneos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El encargado de eventos necesita obtener la lista de jugadores inscritos para los torneos de una fecha determinada.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6217920" y="4023360"/>
            <a:ext cx="5211720" cy="228564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 cap="flat" cmpd="sng" w="12700">
            <a:solidFill>
              <a:srgbClr val="3895F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274300" spcFirstLastPara="1" rIns="274300" wrap="square" tIns="27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none" strike="noStrike">
                <a:solidFill>
                  <a:srgbClr val="3895F8"/>
                </a:solidFill>
                <a:latin typeface="Calibri"/>
                <a:ea typeface="Calibri"/>
                <a:cs typeface="Calibri"/>
                <a:sym typeface="Calibri"/>
              </a:rPr>
              <a:t>4. Manejo de Errores e Inconsistencias</a:t>
            </a:r>
            <a:endParaRPr b="0" sz="15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 requiere evitar que el programa se caiga si el cajero ingresa un ID inexistente o si un evento no tiene inscritos.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731520" y="365760"/>
            <a:ext cx="10698120" cy="100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3895F8"/>
                </a:solidFill>
                <a:latin typeface="Arial"/>
                <a:ea typeface="Arial"/>
                <a:cs typeface="Arial"/>
                <a:sym typeface="Arial"/>
              </a:rPr>
              <a:t>TALLER DE BASE DE DATOS - EVALUACIÓN 1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Solución 1: Ficha de Producto con RECORD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731520" y="1463040"/>
            <a:ext cx="5120280" cy="475452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65750" spcFirstLastPara="1" rIns="365750" wrap="square" tIns="365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3895F8"/>
                </a:solidFill>
                <a:latin typeface="Calibri"/>
                <a:ea typeface="Calibri"/>
                <a:cs typeface="Calibri"/>
                <a:sym typeface="Calibri"/>
              </a:rPr>
              <a:t>Uso de RECORD (tr_juego)</a:t>
            </a:r>
            <a:endParaRPr b="0" sz="1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Concepto: </a:t>
            </a: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Permite definir una estructura personalizada para almacenar datos de distintas tablas en una sola variable.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Corrección Aplicada: </a:t>
            </a: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 agregó `JOIN STOCK s ON p.id_producto = s.id_producto` para obtener la columna `s.cantidad_producto` correctamente.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Control de Errores: </a:t>
            </a: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Usa la excepción `NO_DATA_FOUND` si el código de producto ingresado por el cajero no existe en la base de datos.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Resultado: </a:t>
            </a: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Muestra un resumen inmediato del producto en consola para agilizar la atención en caja.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6217920" y="1463040"/>
            <a:ext cx="5211720" cy="475452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 cap="flat" cmpd="sng" w="9525">
            <a:solidFill>
              <a:srgbClr val="3895F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65750" spcFirstLastPara="1" rIns="365750" wrap="square" tIns="365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Bloque PL/SQL Corregido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TYPE tr_juego IS RECORD (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  nombre VARCHAR2(100),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  precio NUMBER,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  stock NUMBER,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  categoria VARCHAR2(50),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  marca VARCHAR2(100)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v_juego tr_juego;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v_busqueda_id NUMBER := 1; 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SELECT p.nombre_producto, p.precio,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       s.cantidad_producto,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       c.nombre_categoria, m.nombre_marca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INTO v_juego.nombre, v_juego.precio, v_juego.stock,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     v_juego.categoria, v_juego.marca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FROM PRODUCTO p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JOIN STOCK s ON p.id_producto = s.id_producto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JOIN CATEGORIA c ON p.id_categoria = c.id_categoria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JOIN MARCA m ON p.id_marca = m.id_marca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WHERE p.id_producto = v_busqueda_id;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WHEN NO_DATA_FOUND THEN 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  DBMS_OUTPUT.PUT_LINE('Juego no encontrado.');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END;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/>
          <p:nvPr/>
        </p:nvSpPr>
        <p:spPr>
          <a:xfrm>
            <a:off x="731520" y="365760"/>
            <a:ext cx="10698120" cy="100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3895F8"/>
                </a:solidFill>
                <a:latin typeface="Arial"/>
                <a:ea typeface="Arial"/>
                <a:cs typeface="Arial"/>
                <a:sym typeface="Arial"/>
              </a:rPr>
              <a:t>TALLER DE BASE DE DATOS - EVALUACIÓN 1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Solución 2: Clasificación de Edades con VARRAY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731520" y="1463040"/>
            <a:ext cx="5120280" cy="475452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65750" spcFirstLastPara="1" rIns="365750" wrap="square" tIns="365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 u="none" strike="noStrike">
                <a:solidFill>
                  <a:srgbClr val="3895F8"/>
                </a:solidFill>
                <a:latin typeface="Calibri"/>
                <a:ea typeface="Calibri"/>
                <a:cs typeface="Calibri"/>
                <a:sym typeface="Calibri"/>
              </a:rPr>
              <a:t>Uso de VARRAY (t_edades)</a:t>
            </a:r>
            <a:endParaRPr b="0" sz="17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Concepto: </a:t>
            </a: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Un VARRAY almacena un número fijo de elementos del mismo tipo de datos de forma ordenada en memoria.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Aplicación: </a:t>
            </a: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 define `t_edades` con espacio para 5 categorías (Bebés, Niños, Preadolescentes, Adolescentes, Adultos).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Prueba de Excepción: </a:t>
            </a: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 fuerza un ciclo `FOR i IN 1..6` para intentar leer la posición 6 y capturar la excepción `SUBSCRIPT_OUTSIDE_LIMIT`.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Resultado: </a:t>
            </a: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Permite listar las categorías definidas y controlar el acceso fuera del límite del arreglo.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7"/>
          <p:cNvSpPr/>
          <p:nvPr/>
        </p:nvSpPr>
        <p:spPr>
          <a:xfrm>
            <a:off x="6217920" y="1463040"/>
            <a:ext cx="5211720" cy="475452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 cap="flat" cmpd="sng" w="9525">
            <a:solidFill>
              <a:srgbClr val="3895F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65750" spcFirstLastPara="1" rIns="365750" wrap="square" tIns="365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Bloque PL/SQL Planteado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DECLARE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TYPE t_edades IS VARRAY(5) OF VARCHAR2(30);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v_categorias_edad t_edades;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v_categorias_edad := t_edades(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  'Bebés (0-3)', 'Niños (4-8)',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  'Preadolescentes (9-12)',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  'Adolescentes (13-17)', 'Adultos (18+)'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);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FOR i IN 1..6 LOOP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  DBMS_OUTPUT.PUT_LINE(i || '. ' || v_categorias_edad(i));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END LOOP;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EXCEPTION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WHEN SUBSCRIPT_OUTSIDE_LIMIT THEN 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  DBMS_OUTPUT.PUT_LINE('¡Alarma! El código intentó...');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END;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/>
          <p:nvPr/>
        </p:nvSpPr>
        <p:spPr>
          <a:xfrm>
            <a:off x="27542" y="9181"/>
            <a:ext cx="12191400" cy="685770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731520" y="365760"/>
            <a:ext cx="10698000" cy="10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3895F8"/>
                </a:solidFill>
                <a:latin typeface="Arial"/>
                <a:ea typeface="Arial"/>
                <a:cs typeface="Arial"/>
                <a:sym typeface="Arial"/>
              </a:rPr>
              <a:t>TALLER DE BASE DE DATOS - EVALUACIÓN 1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Solución 3: Reporte de Torneos con Cursores Explícitos</a:t>
            </a:r>
            <a:endParaRPr b="1" sz="2200">
              <a:solidFill>
                <a:srgbClr val="F1F5F9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F1F5F9"/>
              </a:solidFill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731520" y="1463040"/>
            <a:ext cx="5120280" cy="475452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65750" spcFirstLastPara="1" rIns="365750" wrap="square" tIns="365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895F8"/>
                </a:solidFill>
                <a:latin typeface="Calibri"/>
                <a:ea typeface="Calibri"/>
                <a:cs typeface="Calibri"/>
                <a:sym typeface="Calibri"/>
              </a:rPr>
              <a:t>Cursores Anidados con Parámetros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Cursor Externo (c_torneos): </a:t>
            </a: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Filtra los torneos según la fecha de inicio (`TRUNC(fecha_inicio) = p_fecha`).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Cursor Interno (c_inscritos): </a:t>
            </a: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Recibe el ID del torneo actual (`p_id_evento`) y lista los clientes anotados.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Excepción Personalizada: </a:t>
            </a: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 define `ex_evento_vacio`. Si un torneo no tiene inscritos (`v_cantidad_inscritos = 0`), se ejecuta `RAISE ex_evento_vacio`.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1" lang="en-US" sz="1200" u="none" strike="noStrike">
                <a:solidFill>
                  <a:srgbClr val="F1F5F9"/>
                </a:solidFill>
                <a:latin typeface="Calibri"/>
                <a:ea typeface="Calibri"/>
                <a:cs typeface="Calibri"/>
                <a:sym typeface="Calibri"/>
              </a:rPr>
              <a:t>• Resultado: </a:t>
            </a: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Imprime la lista de torneos del día y los jugadores inscritos en cada uno.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6217920" y="1463040"/>
            <a:ext cx="5211720" cy="475452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 cap="flat" cmpd="sng" w="9525">
            <a:solidFill>
              <a:srgbClr val="3895F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65750" spcFirstLastPara="1" rIns="365750" wrap="square" tIns="365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Bloque PL/SQL Corregido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99"/>
              </a:spcBef>
              <a:spcAft>
                <a:spcPts val="0"/>
              </a:spcAft>
              <a:buNone/>
            </a:pP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CURSOR c_torneos (p_fecha DATE) IS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SELECT id_evento, nombre_evento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FROM EVENTO WHERE TRUNC(fecha_inicio) = p_fecha;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CURSOR c_inscritos (p_id_evento NUMBER) IS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SELECT c.primer_nombre, c.primer_apellido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FROM INSCRIPCION i JOIN CLIENTE c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ON i.id_cliente = c.id_cliente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WHERE i.id_evento = p_id_evento;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IF v_cantidad_inscritos = 0 THEN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  RAISE ex_evento_vacio;</a:t>
            </a:r>
            <a:br>
              <a:rPr lang="en-US" sz="950"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50" u="none" strike="noStrike">
                <a:solidFill>
                  <a:srgbClr val="FDE047"/>
                </a:solidFill>
                <a:latin typeface="Courier New"/>
                <a:ea typeface="Courier New"/>
                <a:cs typeface="Courier New"/>
                <a:sym typeface="Courier New"/>
              </a:rPr>
              <a:t>END IF;</a:t>
            </a:r>
            <a:endParaRPr b="0" sz="9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9"/>
          <p:cNvSpPr/>
          <p:nvPr/>
        </p:nvSpPr>
        <p:spPr>
          <a:xfrm>
            <a:off x="731520" y="365760"/>
            <a:ext cx="10698120" cy="100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3895F8"/>
                </a:solidFill>
                <a:latin typeface="Arial"/>
                <a:ea typeface="Arial"/>
                <a:cs typeface="Arial"/>
                <a:sym typeface="Arial"/>
              </a:rPr>
              <a:t>TALLER DE BASE DE DATOS - EVALUACIÓN 1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Manejo e Integración de Excepciones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731520" y="1463040"/>
            <a:ext cx="5211720" cy="475452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 cap="flat" cmpd="sng" w="12700">
            <a:solidFill>
              <a:srgbClr val="3895F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65750" spcFirstLastPara="1" rIns="365750" wrap="square" tIns="365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895F8"/>
                </a:solidFill>
                <a:latin typeface="Calibri"/>
                <a:ea typeface="Calibri"/>
                <a:cs typeface="Calibri"/>
                <a:sym typeface="Calibri"/>
              </a:rPr>
              <a:t>Excepciones de Oracle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NO_DATA_FOUND: Se activa cuando una consulta SELECT INTO no retorna registros.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SUBSCRIPT_OUTSIDE_LIMIT: Se activa al intentar acceder a un índice fuera del tamaño del VARRAY.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TOO_MANY_ROWS: Se genera si una consulta retorna más de una fila cuando se esperaba solo una.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DUP_VAL_ON_INDEX: Ocurre al intentar insertar un valor duplicado en una columna única.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6217920" y="1463040"/>
            <a:ext cx="5211720" cy="475452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 cap="flat" cmpd="sng" w="12700">
            <a:solidFill>
              <a:srgbClr val="34D399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365750" spcFirstLastPara="1" rIns="365750" wrap="square" tIns="3657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Excepciones Personalizadas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Definición: Creadas por el desarrollador para validar reglas de negocio específicas.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Declaración: Se declara una variable de tipo EXCEPTION en la sección DECLARE.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Invocación: Se ejecutan mediante la instrucción RAISE dentro de una condición IF.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Uso en el Proyecto: Notificar si un torneo programado no cuenta con jugadores inscritos.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731520" y="365760"/>
            <a:ext cx="10698120" cy="100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3895F8"/>
                </a:solidFill>
                <a:latin typeface="Arial"/>
                <a:ea typeface="Arial"/>
                <a:cs typeface="Arial"/>
                <a:sym typeface="Arial"/>
              </a:rPr>
              <a:t>TALLER DE BASE DE DATOS - EVALUACIÓN 1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Evaluación de Componentes en PL/SQL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731520" y="1463040"/>
            <a:ext cx="10728360" cy="105120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3895F8"/>
                </a:solidFill>
                <a:latin typeface="Calibri"/>
                <a:ea typeface="Calibri"/>
                <a:cs typeface="Calibri"/>
                <a:sym typeface="Calibri"/>
              </a:rPr>
              <a:t>Procedimientos Almacenados  —  </a:t>
            </a: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Permiten ejecutar tareas o transformaciones de datos sin la obligación de retornar un valor directo.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0"/>
          <p:cNvSpPr/>
          <p:nvPr/>
        </p:nvSpPr>
        <p:spPr>
          <a:xfrm>
            <a:off x="731520" y="2651760"/>
            <a:ext cx="10728360" cy="105120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3895F8"/>
                </a:solidFill>
                <a:latin typeface="Calibri"/>
                <a:ea typeface="Calibri"/>
                <a:cs typeface="Calibri"/>
                <a:sym typeface="Calibri"/>
              </a:rPr>
              <a:t>Funciones Almacenadas  —  </a:t>
            </a: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Diseñadas para realizar cálculos y retornar un valor específico (como el total de una venta).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731520" y="3840480"/>
            <a:ext cx="10728360" cy="105120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3895F8"/>
                </a:solidFill>
                <a:latin typeface="Calibri"/>
                <a:ea typeface="Calibri"/>
                <a:cs typeface="Calibri"/>
                <a:sym typeface="Calibri"/>
              </a:rPr>
              <a:t>Packages  —  </a:t>
            </a: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Organizan y agrupan procedimientos, funciones y tipos de datos relacionados en un solo módulo.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731520" y="5029200"/>
            <a:ext cx="10728360" cy="105120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3895F8"/>
                </a:solidFill>
                <a:latin typeface="Calibri"/>
                <a:ea typeface="Calibri"/>
                <a:cs typeface="Calibri"/>
                <a:sym typeface="Calibri"/>
              </a:rPr>
              <a:t>Triggers  —  </a:t>
            </a:r>
            <a:r>
              <a:rPr b="0" lang="en-US" sz="120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Se ejecutan automáticamente antes o después de eventos INSERT, UPDATE o DELETE para mantener la integridad.</a:t>
            </a:r>
            <a:endParaRPr b="0" sz="12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731520" y="365760"/>
            <a:ext cx="10698120" cy="1005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 u="none" strike="noStrike">
                <a:solidFill>
                  <a:srgbClr val="3895F8"/>
                </a:solidFill>
                <a:latin typeface="Arial"/>
                <a:ea typeface="Arial"/>
                <a:cs typeface="Arial"/>
                <a:sym typeface="Arial"/>
              </a:rPr>
              <a:t>TALLER DE BASE DE DATOS - EVALUACIÓN 1</a:t>
            </a:r>
            <a:endParaRPr b="0" sz="11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u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Recomendaciones de Mejora para el Proyecto</a:t>
            </a:r>
            <a:endParaRPr b="0" sz="220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731520" y="1463040"/>
            <a:ext cx="10728360" cy="132552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 cap="flat" cmpd="sng" w="12700">
            <a:solidFill>
              <a:srgbClr val="3895F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274300" spcFirstLastPara="1" rIns="274300" wrap="square" tIns="27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Triggers de Auditoría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Crear disparadores en las tablas de Ventas y Productos para guardar un historial de cambios de precios y cancelaciones.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731520" y="3017520"/>
            <a:ext cx="10728360" cy="132552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 cap="flat" cmpd="sng" w="12700">
            <a:solidFill>
              <a:srgbClr val="3895F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274300" spcFirstLastPara="1" rIns="274300" wrap="square" tIns="27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Tareas Programadas (DBMS_SCHEDULER)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Configurar ejecuciones automáticas en la base de datos para generar reportes nocturnos de stock o depurar eventos pasados.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731520" y="4572000"/>
            <a:ext cx="10728360" cy="132552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 cap="flat" cmpd="sng" w="12700">
            <a:solidFill>
              <a:srgbClr val="3895F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274300" spcFirstLastPara="1" rIns="274300" wrap="square" tIns="2743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Paquete de Fidelización (PKG_FIDELIZACION)</a:t>
            </a:r>
            <a:endParaRPr b="0" sz="16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b="0" lang="en-US" sz="125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Agrupar la lógica de acumulación de puntos y descuentos para clientes en un paquete PL/SQL modular.</a:t>
            </a:r>
            <a:endParaRPr b="0" sz="12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2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41821"/>
          </a:solidFill>
          <a:ln>
            <a:noFill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u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2"/>
          <p:cNvSpPr/>
          <p:nvPr/>
        </p:nvSpPr>
        <p:spPr>
          <a:xfrm>
            <a:off x="1371600" y="1097280"/>
            <a:ext cx="9448200" cy="4663080"/>
          </a:xfrm>
          <a:prstGeom prst="roundRect">
            <a:avLst>
              <a:gd fmla="val 16667" name="adj"/>
            </a:avLst>
          </a:prstGeom>
          <a:solidFill>
            <a:srgbClr val="202634"/>
          </a:solidFill>
          <a:ln cap="flat" cmpd="sng" w="19050">
            <a:solidFill>
              <a:srgbClr val="3895F8"/>
            </a:solidFill>
            <a:prstDash val="solid"/>
            <a:round/>
            <a:headEnd len="sm" w="sm" type="none"/>
            <a:tailEnd len="sm" w="sm" type="none"/>
          </a:ln>
          <a:effectLst>
            <a:outerShdw blurRad="39960" rotWithShape="0" dir="5400000" dist="23040">
              <a:srgbClr val="000000">
                <a:alpha val="34902"/>
              </a:srgbClr>
            </a:outerShdw>
          </a:effectLst>
        </p:spPr>
        <p:txBody>
          <a:bodyPr anchorCtr="0" anchor="ctr" bIns="45000" lIns="548625" spcFirstLastPara="1" rIns="548625" wrap="square" tIns="5486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strike="noStrike">
                <a:solidFill>
                  <a:srgbClr val="3895F8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 b="0" sz="1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1" lang="en-US" sz="2400" u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Resumen del Proyecto Top 9</a:t>
            </a:r>
            <a:endParaRPr b="0" sz="24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Las soluciones desarrolladas en PL/SQL han sido completamente validadas y corregidas según el esquema de la BD.</a:t>
            </a:r>
            <a:endParaRPr b="0" sz="13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El uso de RECORD simplifica la consulta de datos combinando las tablas PRODUCTO, STOCK, CATEGORIA y MARCA.</a:t>
            </a:r>
            <a:endParaRPr b="0" sz="13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La estructura VARRAY gestiona las listas de rangos de edad en memoria de forma segura y acotada.</a:t>
            </a:r>
            <a:endParaRPr b="0" sz="13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lang="en-US" sz="1350" u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• Los cursores explícitos parametrizados operan limpiamente sobre la columna fecha_inicio de la tabla EVENTO.</a:t>
            </a:r>
            <a:endParaRPr b="0" sz="135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401"/>
              </a:spcBef>
              <a:spcAft>
                <a:spcPts val="0"/>
              </a:spcAft>
              <a:buNone/>
            </a:pPr>
            <a:r>
              <a:rPr b="1" lang="en-US" sz="1800" u="none" strike="noStrike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rPr>
              <a:t>Muchas Gracias</a:t>
            </a:r>
            <a:endParaRPr b="0" sz="1800" u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